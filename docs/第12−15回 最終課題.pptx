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e389b9cc9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e389b9cc9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e389b9cc9a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e389b9cc9a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eab16145d3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2eab16145d3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2eab16145d3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2eab16145d3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2eab16145d3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2eab16145d3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e389b9cc9a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e389b9cc9a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2eab16145d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2eab16145d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ec1dc8c57e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ec1dc8c57e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2ec1dc8c57e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2ec1dc8c57e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ec1dc8c57e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2ec1dc8c57e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://drive.google.com/file/d/1Uxut0MXEqyuBFBtDeqyjsOSINTld6m0L/view" TargetMode="External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hyperlink" Target="http://drive.google.com/file/d/1mQEoAOVcXPSxqZI7tMXaupKQN0xzYj4s/view" TargetMode="External"/><Relationship Id="rId4" Type="http://schemas.openxmlformats.org/officeDocument/2006/relationships/image" Target="../media/image2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://drive.google.com/file/d/1vVd9G96cLbZ65fRsuVhuBTRFlKt9O52C/view" TargetMode="External"/><Relationship Id="rId4" Type="http://schemas.openxmlformats.org/officeDocument/2006/relationships/image" Target="../media/image4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hyperlink" Target="http://drive.google.com/file/d/1XHQ6Gk4DJcvLZWMPEK3us6mHD7L1dv5R/view" TargetMode="External"/><Relationship Id="rId4" Type="http://schemas.openxmlformats.org/officeDocument/2006/relationships/image" Target="../media/image3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最終課題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ja" sz="2420"/>
              <a:t>課題テーマ</a:t>
            </a:r>
            <a:endParaRPr b="1" sz="2420"/>
          </a:p>
        </p:txBody>
      </p:sp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ja" sz="3000"/>
              <a:t>機構を用いた</a:t>
            </a:r>
            <a:br>
              <a:rPr lang="ja" sz="3000"/>
            </a:br>
            <a:r>
              <a:rPr b="1" lang="ja" sz="3600"/>
              <a:t>からくり作品</a:t>
            </a:r>
            <a:r>
              <a:rPr lang="ja" sz="3000"/>
              <a:t>を制作</a:t>
            </a:r>
            <a:endParaRPr sz="3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ja" sz="2420"/>
              <a:t>過去の作品</a:t>
            </a:r>
            <a:endParaRPr b="1" sz="2420"/>
          </a:p>
        </p:txBody>
      </p:sp>
      <p:pic>
        <p:nvPicPr>
          <p:cNvPr id="66" name="Google Shape;66;p15" title="IMG_1218.mov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86000" y="857250"/>
            <a:ext cx="4572000" cy="342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ja" sz="2420"/>
              <a:t>過去の作品</a:t>
            </a:r>
            <a:endParaRPr b="1" sz="2420"/>
          </a:p>
        </p:txBody>
      </p:sp>
      <p:pic>
        <p:nvPicPr>
          <p:cNvPr id="72" name="Google Shape;72;p16" title="IMG_3758.MOV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25391" y="0"/>
            <a:ext cx="2893220" cy="51435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ja" sz="2420"/>
              <a:t>過去の作品</a:t>
            </a:r>
            <a:endParaRPr b="1" sz="2420"/>
          </a:p>
        </p:txBody>
      </p:sp>
      <p:pic>
        <p:nvPicPr>
          <p:cNvPr id="78" name="Google Shape;78;p17" title="第14回 最終課題制作（2024年1月21日（16_17））.mov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25391" y="0"/>
            <a:ext cx="2893220" cy="51435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ja" sz="2420"/>
              <a:t>過去の作品</a:t>
            </a:r>
            <a:endParaRPr b="1" sz="2420"/>
          </a:p>
        </p:txBody>
      </p:sp>
      <p:pic>
        <p:nvPicPr>
          <p:cNvPr id="84" name="Google Shape;84;p18" title="第14回 最終課題制作（2024年1月22日（8_21））.mov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25391" y="0"/>
            <a:ext cx="2893220" cy="51435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ja" sz="2420"/>
              <a:t>制作スケジュール</a:t>
            </a:r>
            <a:endParaRPr sz="1820"/>
          </a:p>
        </p:txBody>
      </p:sp>
      <p:sp>
        <p:nvSpPr>
          <p:cNvPr id="90" name="Google Shape;90;p19"/>
          <p:cNvSpPr txBox="1"/>
          <p:nvPr>
            <p:ph idx="1" type="body"/>
          </p:nvPr>
        </p:nvSpPr>
        <p:spPr>
          <a:xfrm>
            <a:off x="311700" y="1152475"/>
            <a:ext cx="85206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400"/>
              <a:t>第12回   パーツ設計・出力　</a:t>
            </a:r>
            <a:r>
              <a:rPr lang="ja"/>
              <a:t>※提出は次回授業日まで</a:t>
            </a:r>
            <a:endParaRPr strike="sngStrike"/>
          </a:p>
          <a:p>
            <a:pPr indent="-342900" lvl="1" marL="9144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Char char="○"/>
            </a:pPr>
            <a:r>
              <a:rPr lang="ja" sz="1800"/>
              <a:t>出力したパーツの画像（1パーツ以上）</a:t>
            </a:r>
            <a:endParaRPr sz="1800"/>
          </a:p>
          <a:p>
            <a:pPr indent="-342900" lvl="1" marL="9144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Char char="○"/>
            </a:pPr>
            <a:r>
              <a:rPr lang="ja" sz="1800"/>
              <a:t>上手くいった点、改善点（100字以上）</a:t>
            </a:r>
            <a:endParaRPr sz="1800"/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ja" sz="2400"/>
              <a:t>第13回   試作品の組み立て　</a:t>
            </a:r>
            <a:r>
              <a:rPr lang="ja"/>
              <a:t>※提出は次回授業日まで</a:t>
            </a:r>
            <a:endParaRPr/>
          </a:p>
          <a:p>
            <a:pPr indent="-342900" lvl="1" marL="9144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Char char="○"/>
            </a:pPr>
            <a:r>
              <a:rPr lang="ja" sz="1800"/>
              <a:t>試作品（ざっくり7~8割が目安）の画像、または動画</a:t>
            </a:r>
            <a:endParaRPr sz="1800"/>
          </a:p>
          <a:p>
            <a:pPr indent="-342900" lvl="1" marL="9144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Char char="○"/>
            </a:pPr>
            <a:r>
              <a:rPr lang="ja" sz="1800"/>
              <a:t>上手くいった点、改善点（100字以上）</a:t>
            </a:r>
            <a:endParaRPr sz="1800"/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ja"/>
              <a:t>	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ja" sz="2420"/>
              <a:t>制作スケジュール</a:t>
            </a:r>
            <a:endParaRPr sz="1820"/>
          </a:p>
        </p:txBody>
      </p:sp>
      <p:sp>
        <p:nvSpPr>
          <p:cNvPr id="96" name="Google Shape;96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400"/>
              <a:t>第14回　試作品の改善、作品完成　</a:t>
            </a:r>
            <a:r>
              <a:rPr lang="ja"/>
              <a:t>※提出は</a:t>
            </a:r>
            <a:r>
              <a:rPr b="1" lang="ja" sz="2000"/>
              <a:t>最終回</a:t>
            </a:r>
            <a:r>
              <a:rPr lang="ja"/>
              <a:t>の23:59まで</a:t>
            </a:r>
            <a:endParaRPr b="1" sz="2400"/>
          </a:p>
          <a:p>
            <a:pPr indent="-342900" lvl="0" marL="9144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Char char="○"/>
            </a:pPr>
            <a:r>
              <a:rPr lang="ja"/>
              <a:t>完成した作品の動画</a:t>
            </a:r>
            <a:endParaRPr/>
          </a:p>
          <a:p>
            <a:pPr indent="-342900" lvl="0" marL="9144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Char char="○"/>
            </a:pPr>
            <a:r>
              <a:rPr lang="ja"/>
              <a:t>作品概要等を記載したドキュメント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ja" sz="2400"/>
              <a:t>第15回　作品発表、講評　</a:t>
            </a:r>
            <a:r>
              <a:rPr lang="ja"/>
              <a:t>※提出は</a:t>
            </a:r>
            <a:r>
              <a:rPr b="1" lang="ja" sz="2000"/>
              <a:t>最終回</a:t>
            </a:r>
            <a:r>
              <a:rPr lang="ja"/>
              <a:t>の23:59まで</a:t>
            </a:r>
            <a:endParaRPr b="1" sz="2400"/>
          </a:p>
          <a:p>
            <a:pPr indent="-342900" lvl="0" marL="914400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SzPts val="1800"/>
              <a:buChar char="○"/>
            </a:pPr>
            <a:r>
              <a:rPr lang="ja"/>
              <a:t>感想コメント</a:t>
            </a:r>
            <a:endParaRPr b="1" sz="24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ja" sz="1820"/>
              <a:t>作品評価ポイント1</a:t>
            </a:r>
            <a:r>
              <a:rPr b="1" lang="ja" sz="2420"/>
              <a:t>　完成度</a:t>
            </a:r>
            <a:endParaRPr sz="1820"/>
          </a:p>
        </p:txBody>
      </p:sp>
      <p:sp>
        <p:nvSpPr>
          <p:cNvPr id="102" name="Google Shape;102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ja" sz="2400"/>
              <a:t>作品が適切に</a:t>
            </a:r>
            <a:r>
              <a:rPr b="1" lang="ja" sz="2400"/>
              <a:t>動く</a:t>
            </a:r>
            <a:r>
              <a:rPr lang="ja" sz="2400"/>
              <a:t>か</a:t>
            </a:r>
            <a:endParaRPr sz="2400"/>
          </a:p>
          <a:p>
            <a:pPr indent="-3810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b="1" lang="ja" sz="2400"/>
              <a:t>強度</a:t>
            </a:r>
            <a:r>
              <a:rPr lang="ja" sz="2400"/>
              <a:t>に問題はないか</a:t>
            </a:r>
            <a:endParaRPr sz="2400"/>
          </a:p>
          <a:p>
            <a:pPr indent="-3810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SzPts val="2400"/>
              <a:buChar char="●"/>
            </a:pPr>
            <a:r>
              <a:rPr lang="ja" sz="2400"/>
              <a:t>表面処理、塗装、装飾、異なる素材の利用等の</a:t>
            </a:r>
            <a:br>
              <a:rPr lang="ja" sz="2400"/>
            </a:br>
            <a:r>
              <a:rPr b="1" lang="ja" sz="2400"/>
              <a:t>工夫</a:t>
            </a:r>
            <a:r>
              <a:rPr lang="ja" sz="2400"/>
              <a:t>が見られるか</a:t>
            </a:r>
            <a:endParaRPr sz="24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ja" sz="1820"/>
              <a:t>作品評価ポイント2</a:t>
            </a:r>
            <a:r>
              <a:rPr b="1" lang="ja" sz="2420"/>
              <a:t>　</a:t>
            </a:r>
            <a:r>
              <a:rPr b="1" lang="ja" sz="2420"/>
              <a:t>技術性</a:t>
            </a:r>
            <a:endParaRPr sz="1820"/>
          </a:p>
        </p:txBody>
      </p:sp>
      <p:sp>
        <p:nvSpPr>
          <p:cNvPr id="108" name="Google Shape;108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ja" sz="2400"/>
              <a:t>機構選定の妥当性</a:t>
            </a:r>
            <a:endParaRPr sz="2400"/>
          </a:p>
          <a:p>
            <a:pPr indent="-3810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ja" sz="2400"/>
              <a:t>使用している機構のパーツ数や動きの高度さ</a:t>
            </a:r>
            <a:endParaRPr sz="2400"/>
          </a:p>
          <a:p>
            <a:pPr indent="-3810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SzPts val="2400"/>
              <a:buChar char="●"/>
            </a:pPr>
            <a:r>
              <a:rPr lang="ja" sz="2400"/>
              <a:t>Illustrator, Fusionによる高度なデザイン・造形力</a:t>
            </a:r>
            <a:endParaRPr sz="24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ja" sz="1820"/>
              <a:t>作品評価ポイント3</a:t>
            </a:r>
            <a:r>
              <a:rPr b="1" lang="ja" sz="2420"/>
              <a:t>　</a:t>
            </a:r>
            <a:r>
              <a:rPr b="1" lang="ja" sz="2420"/>
              <a:t>独創性</a:t>
            </a:r>
            <a:endParaRPr sz="1820"/>
          </a:p>
        </p:txBody>
      </p:sp>
      <p:sp>
        <p:nvSpPr>
          <p:cNvPr id="114" name="Google Shape;114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ja" sz="2400"/>
              <a:t>機構の動きを別の動きへ見立てた作品に</a:t>
            </a:r>
            <a:br>
              <a:rPr lang="ja" sz="2400"/>
            </a:br>
            <a:r>
              <a:rPr lang="ja" sz="2400"/>
              <a:t>仕上がっているか</a:t>
            </a:r>
            <a:endParaRPr sz="2400"/>
          </a:p>
          <a:p>
            <a:pPr indent="-3810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SzPts val="2400"/>
              <a:buChar char="●"/>
            </a:pPr>
            <a:r>
              <a:rPr lang="ja" sz="2400"/>
              <a:t>既製品にはないオリジナルの要素があるか</a:t>
            </a:r>
            <a:endParaRPr sz="2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